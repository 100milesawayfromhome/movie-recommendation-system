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758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758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758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758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B758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584200"/>
            <a:ext cx="76200" cy="584200"/>
          </a:xfrm>
          <a:custGeom>
            <a:avLst/>
            <a:gdLst/>
            <a:ahLst/>
            <a:cxnLst/>
            <a:rect l="l" t="t" r="r" b="b"/>
            <a:pathLst>
              <a:path w="76200" h="584200">
                <a:moveTo>
                  <a:pt x="76200" y="0"/>
                </a:moveTo>
                <a:lnTo>
                  <a:pt x="0" y="0"/>
                </a:lnTo>
                <a:lnTo>
                  <a:pt x="0" y="584200"/>
                </a:lnTo>
                <a:lnTo>
                  <a:pt x="76200" y="584200"/>
                </a:lnTo>
                <a:lnTo>
                  <a:pt x="76200" y="0"/>
                </a:lnTo>
                <a:close/>
              </a:path>
            </a:pathLst>
          </a:custGeom>
          <a:solidFill>
            <a:srgbClr val="9A2D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6300" y="762000"/>
            <a:ext cx="630682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159" y="1623060"/>
            <a:ext cx="10901680" cy="264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3100" y="6417375"/>
            <a:ext cx="2701290" cy="14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6B7585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220957" y="6400130"/>
            <a:ext cx="29845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21344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#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134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841500"/>
            <a:ext cx="1905000" cy="63500"/>
          </a:xfrm>
          <a:custGeom>
            <a:avLst/>
            <a:gdLst/>
            <a:ahLst/>
            <a:cxnLst/>
            <a:rect l="l" t="t" r="r" b="b"/>
            <a:pathLst>
              <a:path w="1905000" h="63500">
                <a:moveTo>
                  <a:pt x="1905000" y="0"/>
                </a:moveTo>
                <a:lnTo>
                  <a:pt x="0" y="0"/>
                </a:lnTo>
                <a:lnTo>
                  <a:pt x="0" y="63500"/>
                </a:lnTo>
                <a:lnTo>
                  <a:pt x="1905000" y="63500"/>
                </a:lnTo>
                <a:lnTo>
                  <a:pt x="1905000" y="0"/>
                </a:lnTo>
                <a:close/>
              </a:path>
            </a:pathLst>
          </a:custGeom>
          <a:solidFill>
            <a:srgbClr val="9A2D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1473200"/>
            <a:ext cx="231902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9EAFC3"/>
                </a:solidFill>
                <a:latin typeface="Arial"/>
                <a:cs typeface="Arial"/>
              </a:rPr>
              <a:t>TECHNICAL</a:t>
            </a:r>
            <a:r>
              <a:rPr dirty="0" sz="1300" spc="-80" b="1">
                <a:solidFill>
                  <a:srgbClr val="9EAFC3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9EAFC3"/>
                </a:solidFill>
                <a:latin typeface="Arial"/>
                <a:cs typeface="Arial"/>
              </a:rPr>
              <a:t>PRESENTATION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3100" y="2019300"/>
            <a:ext cx="7563484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FFFFFF"/>
                </a:solidFill>
              </a:rPr>
              <a:t>Personalized </a:t>
            </a:r>
            <a:r>
              <a:rPr dirty="0" sz="4000" spc="-10">
                <a:solidFill>
                  <a:srgbClr val="FFFFFF"/>
                </a:solidFill>
              </a:rPr>
              <a:t>Recommendation </a:t>
            </a:r>
            <a:r>
              <a:rPr dirty="0" sz="4000">
                <a:solidFill>
                  <a:srgbClr val="FFFFFF"/>
                </a:solidFill>
              </a:rPr>
              <a:t>Systems</a:t>
            </a:r>
            <a:r>
              <a:rPr dirty="0" sz="4000" spc="-7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for</a:t>
            </a:r>
            <a:r>
              <a:rPr dirty="0" sz="4000" spc="-75">
                <a:solidFill>
                  <a:srgbClr val="FFFFFF"/>
                </a:solidFill>
              </a:rPr>
              <a:t> </a:t>
            </a:r>
            <a:r>
              <a:rPr dirty="0" sz="4000">
                <a:solidFill>
                  <a:srgbClr val="FFFFFF"/>
                </a:solidFill>
              </a:rPr>
              <a:t>Content</a:t>
            </a:r>
            <a:r>
              <a:rPr dirty="0" sz="4000" spc="-70">
                <a:solidFill>
                  <a:srgbClr val="FFFFFF"/>
                </a:solidFill>
              </a:rPr>
              <a:t> </a:t>
            </a:r>
            <a:r>
              <a:rPr dirty="0" sz="4000" spc="-10">
                <a:solidFill>
                  <a:srgbClr val="FFFFFF"/>
                </a:solidFill>
              </a:rPr>
              <a:t>Discovery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673100" y="3416300"/>
            <a:ext cx="57746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Predicting</a:t>
            </a:r>
            <a:r>
              <a:rPr dirty="0" sz="1500" spc="-2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taste</a:t>
            </a:r>
            <a:r>
              <a:rPr dirty="0" sz="1500" spc="-2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from</a:t>
            </a:r>
            <a:r>
              <a:rPr dirty="0" sz="1500" spc="-20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100</a:t>
            </a:r>
            <a:r>
              <a:rPr dirty="0" sz="1500" spc="-2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million</a:t>
            </a:r>
            <a:r>
              <a:rPr dirty="0" sz="1500" spc="-2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ratings</a:t>
            </a:r>
            <a:r>
              <a:rPr dirty="0" sz="1500" spc="370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—</a:t>
            </a:r>
            <a:r>
              <a:rPr dirty="0" sz="1500" spc="36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the</a:t>
            </a:r>
            <a:r>
              <a:rPr dirty="0" sz="1500" spc="-2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Netflix</a:t>
            </a:r>
            <a:r>
              <a:rPr dirty="0" sz="1500" spc="-20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3CFDD"/>
                </a:solidFill>
                <a:latin typeface="Arial MT"/>
                <a:cs typeface="Arial MT"/>
              </a:rPr>
              <a:t>Prize</a:t>
            </a:r>
            <a:r>
              <a:rPr dirty="0" sz="1500" spc="-25">
                <a:solidFill>
                  <a:srgbClr val="C3CFDD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3CFDD"/>
                </a:solidFill>
                <a:latin typeface="Arial MT"/>
                <a:cs typeface="Arial MT"/>
              </a:rPr>
              <a:t>dataset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49530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3B50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3100" y="5061527"/>
            <a:ext cx="1296670" cy="7454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000" spc="-10" b="1">
                <a:solidFill>
                  <a:srgbClr val="FFFFFF"/>
                </a:solidFill>
                <a:latin typeface="Arial"/>
                <a:cs typeface="Arial"/>
              </a:rPr>
              <a:t>100.5M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solidFill>
                  <a:srgbClr val="9EAFC3"/>
                </a:solidFill>
                <a:latin typeface="Arial MT"/>
                <a:cs typeface="Arial MT"/>
              </a:rPr>
              <a:t>ratings </a:t>
            </a:r>
            <a:r>
              <a:rPr dirty="0" sz="1100" spc="-10">
                <a:solidFill>
                  <a:srgbClr val="9EAFC3"/>
                </a:solidFill>
                <a:latin typeface="Arial MT"/>
                <a:cs typeface="Arial MT"/>
              </a:rPr>
              <a:t>learned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8200" y="5061527"/>
            <a:ext cx="1912620" cy="7454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000" spc="-10" b="1">
                <a:solidFill>
                  <a:srgbClr val="FFFFFF"/>
                </a:solidFill>
                <a:latin typeface="Arial"/>
                <a:cs typeface="Arial"/>
              </a:rPr>
              <a:t>0.9093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solidFill>
                  <a:srgbClr val="9EAFC3"/>
                </a:solidFill>
                <a:latin typeface="Arial MT"/>
                <a:cs typeface="Arial MT"/>
              </a:rPr>
              <a:t>best</a:t>
            </a:r>
            <a:r>
              <a:rPr dirty="0" sz="1100" spc="-15">
                <a:solidFill>
                  <a:srgbClr val="9EAFC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9EAFC3"/>
                </a:solidFill>
                <a:latin typeface="Arial MT"/>
                <a:cs typeface="Arial MT"/>
              </a:rPr>
              <a:t>RMSE</a:t>
            </a:r>
            <a:r>
              <a:rPr dirty="0" sz="1100" spc="-10">
                <a:solidFill>
                  <a:srgbClr val="9EAFC3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9EAFC3"/>
                </a:solidFill>
                <a:latin typeface="Arial MT"/>
                <a:cs typeface="Arial MT"/>
              </a:rPr>
              <a:t>(beats</a:t>
            </a:r>
            <a:r>
              <a:rPr dirty="0" sz="1100" spc="-10">
                <a:solidFill>
                  <a:srgbClr val="9EAFC3"/>
                </a:solidFill>
                <a:latin typeface="Arial MT"/>
                <a:cs typeface="Arial MT"/>
              </a:rPr>
              <a:t> Cinematch)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3300" y="5061527"/>
            <a:ext cx="1191260" cy="7454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000" spc="-10" b="1">
                <a:solidFill>
                  <a:srgbClr val="FFFFFF"/>
                </a:solidFill>
                <a:latin typeface="Arial"/>
                <a:cs typeface="Arial"/>
              </a:rPr>
              <a:t>17,770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solidFill>
                  <a:srgbClr val="9EAFC3"/>
                </a:solidFill>
                <a:latin typeface="Arial MT"/>
                <a:cs typeface="Arial MT"/>
              </a:rPr>
              <a:t>movies</a:t>
            </a:r>
            <a:r>
              <a:rPr dirty="0" sz="1100" spc="-35">
                <a:solidFill>
                  <a:srgbClr val="9EAFC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9EAFC3"/>
                </a:solidFill>
                <a:latin typeface="Arial MT"/>
                <a:cs typeface="Arial MT"/>
              </a:rPr>
              <a:t>ranked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8400" y="5061527"/>
            <a:ext cx="1136015" cy="74549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3000" spc="-5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100">
                <a:solidFill>
                  <a:srgbClr val="9EAFC3"/>
                </a:solidFill>
                <a:latin typeface="Arial MT"/>
                <a:cs typeface="Arial MT"/>
              </a:rPr>
              <a:t>models</a:t>
            </a:r>
            <a:r>
              <a:rPr dirty="0" sz="1100" spc="-40">
                <a:solidFill>
                  <a:srgbClr val="9EAFC3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9EAFC3"/>
                </a:solidFill>
                <a:latin typeface="Arial MT"/>
                <a:cs typeface="Arial MT"/>
              </a:rPr>
              <a:t>compared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5988050"/>
            <a:ext cx="548640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Collaborative</a:t>
            </a:r>
            <a:r>
              <a:rPr dirty="0" sz="950" spc="-5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Filtering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|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Matrix</a:t>
            </a:r>
            <a:r>
              <a:rPr dirty="0" sz="950" spc="-5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Factorization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|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SVD++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|</a:t>
            </a:r>
            <a:r>
              <a:rPr dirty="0" sz="950" spc="254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BPR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|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Stacked</a:t>
            </a:r>
            <a:r>
              <a:rPr dirty="0" sz="950" spc="-5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Ensemble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|</a:t>
            </a:r>
            <a:r>
              <a:rPr dirty="0" sz="950" spc="260">
                <a:solidFill>
                  <a:srgbClr val="7E8CA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8CA1"/>
                </a:solidFill>
                <a:latin typeface="Arial MT"/>
                <a:cs typeface="Arial MT"/>
              </a:rPr>
              <a:t>Hybrid </a:t>
            </a:r>
            <a:r>
              <a:rPr dirty="0" sz="950" spc="-10">
                <a:solidFill>
                  <a:srgbClr val="7E8CA1"/>
                </a:solidFill>
                <a:latin typeface="Arial MT"/>
                <a:cs typeface="Arial MT"/>
              </a:rPr>
              <a:t>Ranker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1647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01</a:t>
            </a:r>
            <a:r>
              <a:rPr dirty="0" sz="1100" spc="27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7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PROBLEM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&amp;</a:t>
            </a:r>
            <a:r>
              <a:rPr dirty="0" sz="1100" spc="-1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9A2D2F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Challenge: 100M Ratings, 99% </a:t>
            </a:r>
            <a:r>
              <a:rPr dirty="0" spc="-10"/>
              <a:t>Empty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3100" y="1577339"/>
            <a:ext cx="10565130" cy="50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100"/>
              </a:spcBef>
            </a:pP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The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Netflix Prize asks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us to learn user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taste from historical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ratings, predict scores for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unseen films, and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build personalized Top-10</a:t>
            </a:r>
            <a:r>
              <a:rPr dirty="0" sz="1350" spc="-5">
                <a:solidFill>
                  <a:srgbClr val="3D5B75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lists. </a:t>
            </a:r>
            <a:r>
              <a:rPr dirty="0" sz="1350" spc="-25">
                <a:solidFill>
                  <a:srgbClr val="3D5B75"/>
                </a:solidFill>
                <a:latin typeface="Arial MT"/>
                <a:cs typeface="Arial MT"/>
              </a:rPr>
              <a:t>The </a:t>
            </a: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data is vast and overwhelmingly sparse — which shapes every modelling choice that </a:t>
            </a:r>
            <a:r>
              <a:rPr dirty="0" sz="1350" spc="-10">
                <a:solidFill>
                  <a:srgbClr val="3D5B75"/>
                </a:solidFill>
                <a:latin typeface="Arial MT"/>
                <a:cs typeface="Arial MT"/>
              </a:rPr>
              <a:t>follows.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2247900"/>
            <a:ext cx="1381125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13449"/>
                </a:solidFill>
                <a:latin typeface="Arial"/>
                <a:cs typeface="Arial"/>
              </a:rPr>
              <a:t>100.5M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10">
                <a:solidFill>
                  <a:srgbClr val="6B7585"/>
                </a:solidFill>
                <a:latin typeface="Arial MT"/>
                <a:cs typeface="Arial MT"/>
              </a:rPr>
              <a:t>ratings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6403" y="2247900"/>
            <a:ext cx="1494790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13449"/>
                </a:solidFill>
                <a:latin typeface="Arial"/>
                <a:cs typeface="Arial"/>
              </a:rPr>
              <a:t>480,189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10">
                <a:solidFill>
                  <a:srgbClr val="6B7585"/>
                </a:solidFill>
                <a:latin typeface="Arial MT"/>
                <a:cs typeface="Arial MT"/>
              </a:rPr>
              <a:t>users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9708" y="2247900"/>
            <a:ext cx="1268730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213449"/>
                </a:solidFill>
                <a:latin typeface="Arial"/>
                <a:cs typeface="Arial"/>
              </a:rPr>
              <a:t>17,770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 spc="-10">
                <a:solidFill>
                  <a:srgbClr val="6B7585"/>
                </a:solidFill>
                <a:latin typeface="Arial MT"/>
                <a:cs typeface="Arial MT"/>
              </a:rPr>
              <a:t>movies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3011" y="2247900"/>
            <a:ext cx="1352550" cy="674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9A2D2F"/>
                </a:solidFill>
                <a:latin typeface="Arial"/>
                <a:cs typeface="Arial"/>
              </a:rPr>
              <a:t>1.18%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density</a:t>
            </a:r>
            <a:r>
              <a:rPr dirty="0" sz="1050" spc="-3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(98.8%</a:t>
            </a:r>
            <a:r>
              <a:rPr dirty="0" sz="1050" spc="-3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B7585"/>
                </a:solidFill>
                <a:latin typeface="Arial MT"/>
                <a:cs typeface="Arial MT"/>
              </a:rPr>
              <a:t>empty)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372" y="3262970"/>
            <a:ext cx="10653255" cy="251596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73100" y="5951405"/>
            <a:ext cx="87991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6B7585"/>
                </a:solidFill>
                <a:latin typeface="Arial"/>
                <a:cs typeface="Arial"/>
              </a:rPr>
              <a:t>Figure — ratings skew positive (4 stars is the mode) and both user activity and movie popularity follow steep long tails. Sparsity, skew and the long tail drive the entire </a:t>
            </a:r>
            <a:r>
              <a:rPr dirty="0" sz="900" spc="-10" i="1">
                <a:solidFill>
                  <a:srgbClr val="6B7585"/>
                </a:solidFill>
                <a:latin typeface="Arial"/>
                <a:cs typeface="Arial"/>
              </a:rPr>
              <a:t>design.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1182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02</a:t>
            </a:r>
            <a:r>
              <a:rPr dirty="0" sz="1100" spc="29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9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APPROACH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10"/>
              <a:t> </a:t>
            </a:r>
            <a:r>
              <a:rPr dirty="0"/>
              <a:t>Ladder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Five</a:t>
            </a:r>
            <a:r>
              <a:rPr dirty="0" spc="-5"/>
              <a:t> </a:t>
            </a:r>
            <a:r>
              <a:rPr dirty="0" spc="-10"/>
              <a:t>Models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3100" y="1587500"/>
            <a:ext cx="88036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Rather than bet on one algorithm, we built a progression where each rung adds one idea — and a measurable </a:t>
            </a:r>
            <a:r>
              <a:rPr dirty="0" sz="1350" spc="-10">
                <a:solidFill>
                  <a:srgbClr val="3D5B75"/>
                </a:solidFill>
                <a:latin typeface="Arial MT"/>
                <a:cs typeface="Arial MT"/>
              </a:rPr>
              <a:t>gain.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5800" y="1905000"/>
          <a:ext cx="10896600" cy="236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  <a:gridCol w="8915400"/>
              </a:tblGrid>
              <a:tr h="431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300" spc="-2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Bias</a:t>
                      </a:r>
                      <a:r>
                        <a:rPr dirty="0" sz="1300" spc="-15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lnR w="28575">
                      <a:solidFill>
                        <a:srgbClr val="9A2D2F"/>
                      </a:solidFill>
                      <a:prstDash val="solid"/>
                    </a:lnR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Global</a:t>
                      </a:r>
                      <a:r>
                        <a:rPr dirty="0" sz="1150" spc="-1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mean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learned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user/movie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biases.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Cheap,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strong,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our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cold-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start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fallback.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9A2D2F"/>
                      </a:solidFill>
                      <a:prstDash val="solid"/>
                    </a:lnL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300" spc="-2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Funk</a:t>
                      </a:r>
                      <a:r>
                        <a:rPr dirty="0" sz="1300" spc="-2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SVD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lnR w="28575">
                      <a:solidFill>
                        <a:srgbClr val="9A2D2F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SGD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matrix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factorization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observed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ratings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technique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defined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Prize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era.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9A2D2F"/>
                      </a:solidFill>
                      <a:prstDash val="solid"/>
                    </a:lnL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3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SVD++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lnR w="28575">
                      <a:solidFill>
                        <a:srgbClr val="9A2D2F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Adds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implicit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feedback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(which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films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were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rated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all). A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pillar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winning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solution.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9A2D2F"/>
                      </a:solidFill>
                      <a:prstDash val="solid"/>
                    </a:lnL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3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BPR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14300">
                    <a:lnR w="28575">
                      <a:solidFill>
                        <a:srgbClr val="9A2D2F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Bayesian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Personalized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Ranking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—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optimizes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item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ordering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directly;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right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objective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Top-</a:t>
                      </a:r>
                      <a:r>
                        <a:rPr dirty="0" sz="1150" spc="-2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10.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9A2D2F"/>
                      </a:solidFill>
                      <a:prstDash val="solid"/>
                    </a:lnL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marL="152400" marR="661670">
                        <a:lnSpc>
                          <a:spcPct val="102600"/>
                        </a:lnSpc>
                        <a:spcBef>
                          <a:spcPts val="860"/>
                        </a:spcBef>
                      </a:pP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300" spc="-35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Ensemble</a:t>
                      </a:r>
                      <a:r>
                        <a:rPr dirty="0" sz="1300" spc="-35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5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13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Hybrid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9220">
                    <a:lnR w="28575">
                      <a:solidFill>
                        <a:srgbClr val="9A2D2F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Linear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stacking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accuracy;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BPR×SVD++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rank-blend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ranking.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Blending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winners'</a:t>
                      </a:r>
                      <a:r>
                        <a:rPr dirty="0" sz="115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lesson.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53975">
                    <a:lnL w="28575">
                      <a:solidFill>
                        <a:srgbClr val="9A2D2F"/>
                      </a:solidFill>
                      <a:prstDash val="solid"/>
                    </a:lnL>
                    <a:lnT w="6350">
                      <a:solidFill>
                        <a:srgbClr val="D4DBE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685800" y="4419600"/>
            <a:ext cx="10820400" cy="914400"/>
            <a:chOff x="685800" y="4419600"/>
            <a:chExt cx="10820400" cy="914400"/>
          </a:xfrm>
        </p:grpSpPr>
        <p:sp>
          <p:nvSpPr>
            <p:cNvPr id="8" name="object 8"/>
            <p:cNvSpPr/>
            <p:nvPr/>
          </p:nvSpPr>
          <p:spPr>
            <a:xfrm>
              <a:off x="685800" y="4419600"/>
              <a:ext cx="10820400" cy="914400"/>
            </a:xfrm>
            <a:custGeom>
              <a:avLst/>
              <a:gdLst/>
              <a:ahLst/>
              <a:cxnLst/>
              <a:rect l="l" t="t" r="r" b="b"/>
              <a:pathLst>
                <a:path w="10820400" h="914400">
                  <a:moveTo>
                    <a:pt x="10820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820400" y="914400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44196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9A2D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36600" y="4482132"/>
            <a:ext cx="107696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The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decisive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upgrade</a:t>
            </a:r>
            <a:endParaRPr sz="1100">
              <a:latin typeface="Arial"/>
              <a:cs typeface="Arial"/>
            </a:endParaRPr>
          </a:p>
          <a:p>
            <a:pPr marL="101600" marR="144145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Switching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from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zero-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imputed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SVD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to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SGD-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based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Funk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SVD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which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learns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only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from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that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actually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exist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was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single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largest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accuracy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gain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of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project.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numba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JIT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makes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full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epoch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over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99M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run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in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under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minute.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20516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03</a:t>
            </a:r>
            <a:r>
              <a:rPr dirty="0" sz="1100" spc="27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80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RESULTS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—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 ACCURACY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</a:t>
            </a:r>
            <a:r>
              <a:rPr dirty="0" spc="-20"/>
              <a:t> </a:t>
            </a:r>
            <a:r>
              <a:rPr dirty="0"/>
              <a:t>Beat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System</a:t>
            </a:r>
            <a:r>
              <a:rPr dirty="0" spc="-15"/>
              <a:t> </a:t>
            </a:r>
            <a:r>
              <a:rPr dirty="0"/>
              <a:t>Netflix</a:t>
            </a:r>
            <a:r>
              <a:rPr dirty="0" spc="-15"/>
              <a:t> </a:t>
            </a:r>
            <a:r>
              <a:rPr dirty="0" spc="-10"/>
              <a:t>Shipped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3100" y="1485900"/>
            <a:ext cx="204533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 b="1">
                <a:solidFill>
                  <a:srgbClr val="9A2D2F"/>
                </a:solidFill>
                <a:latin typeface="Arial"/>
                <a:cs typeface="Arial"/>
              </a:rPr>
              <a:t>0.9093</a:t>
            </a:r>
            <a:endParaRPr sz="5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2185511"/>
            <a:ext cx="3442970" cy="46164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Ensemble</a:t>
            </a:r>
            <a:r>
              <a:rPr dirty="0" sz="1050" spc="-20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RMSE</a:t>
            </a:r>
            <a:r>
              <a:rPr dirty="0" sz="1050" spc="254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—</a:t>
            </a:r>
            <a:r>
              <a:rPr dirty="0" sz="1050" spc="254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our</a:t>
            </a:r>
            <a:r>
              <a:rPr dirty="0" sz="1050" spc="-1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best</a:t>
            </a:r>
            <a:r>
              <a:rPr dirty="0" sz="1050" spc="-1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B7585"/>
                </a:solidFill>
                <a:latin typeface="Arial MT"/>
                <a:cs typeface="Arial MT"/>
              </a:rPr>
              <a:t>model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200">
                <a:solidFill>
                  <a:srgbClr val="6B7585"/>
                </a:solidFill>
                <a:latin typeface="Arial MT"/>
                <a:cs typeface="Arial MT"/>
              </a:rPr>
              <a:t>vs.</a:t>
            </a:r>
            <a:r>
              <a:rPr dirty="0" sz="1200" spc="-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B7585"/>
                </a:solidFill>
                <a:latin typeface="Arial MT"/>
                <a:cs typeface="Arial MT"/>
              </a:rPr>
              <a:t>Cinematch 0.9514</a:t>
            </a:r>
            <a:r>
              <a:rPr dirty="0" sz="1200" spc="330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B7585"/>
                </a:solidFill>
                <a:latin typeface="Arial MT"/>
                <a:cs typeface="Arial MT"/>
              </a:rPr>
              <a:t>(Netflix's own</a:t>
            </a:r>
            <a:r>
              <a:rPr dirty="0" sz="1200" spc="-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6B7585"/>
                </a:solidFill>
                <a:latin typeface="Arial MT"/>
                <a:cs typeface="Arial MT"/>
              </a:rPr>
              <a:t>2006 </a:t>
            </a:r>
            <a:r>
              <a:rPr dirty="0" sz="1200" spc="-10">
                <a:solidFill>
                  <a:srgbClr val="6B7585"/>
                </a:solidFill>
                <a:latin typeface="Arial MT"/>
                <a:cs typeface="Arial MT"/>
              </a:rPr>
              <a:t>system)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3600" y="2946400"/>
            <a:ext cx="4043045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44145">
              <a:lnSpc>
                <a:spcPct val="113300"/>
              </a:lnSpc>
              <a:spcBef>
                <a:spcPts val="100"/>
              </a:spcBef>
              <a:buClr>
                <a:srgbClr val="9A2D2F"/>
              </a:buClr>
              <a:buChar char="•"/>
              <a:tabLst>
                <a:tab pos="156845" algn="l"/>
              </a:tabLst>
            </a:pP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SGD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factorization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trains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on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observed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ratings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only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no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zero-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imputation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bias.</a:t>
            </a:r>
            <a:endParaRPr sz="1250">
              <a:latin typeface="Arial MT"/>
              <a:cs typeface="Arial MT"/>
            </a:endParaRPr>
          </a:p>
          <a:p>
            <a:pPr marL="12700" marR="66040" indent="144145">
              <a:lnSpc>
                <a:spcPct val="113300"/>
              </a:lnSpc>
              <a:spcBef>
                <a:spcPts val="600"/>
              </a:spcBef>
              <a:buClr>
                <a:srgbClr val="9A2D2F"/>
              </a:buClr>
              <a:buChar char="•"/>
              <a:tabLst>
                <a:tab pos="156845" algn="l"/>
              </a:tabLst>
            </a:pP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Linear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stacking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is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guaranteed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to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match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or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beat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its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212D3B"/>
                </a:solidFill>
                <a:latin typeface="Arial MT"/>
                <a:cs typeface="Arial MT"/>
              </a:rPr>
              <a:t>best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single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component.</a:t>
            </a:r>
            <a:endParaRPr sz="1250">
              <a:latin typeface="Arial MT"/>
              <a:cs typeface="Arial MT"/>
            </a:endParaRPr>
          </a:p>
          <a:p>
            <a:pPr marL="12700" marR="401320" indent="144145">
              <a:lnSpc>
                <a:spcPct val="113300"/>
              </a:lnSpc>
              <a:spcBef>
                <a:spcPts val="600"/>
              </a:spcBef>
              <a:buClr>
                <a:srgbClr val="9A2D2F"/>
              </a:buClr>
              <a:buChar char="•"/>
              <a:tabLst>
                <a:tab pos="156845" algn="l"/>
              </a:tabLst>
            </a:pP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0.8567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grand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prize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took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hundreds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of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blended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models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over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two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years.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0060" y="1986116"/>
            <a:ext cx="5876911" cy="191841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190436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04</a:t>
            </a:r>
            <a:r>
              <a:rPr dirty="0" sz="1100" spc="27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80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RESULTS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—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 RANKING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Ranking: Personalization </a:t>
            </a:r>
            <a:r>
              <a:rPr dirty="0" spc="-20"/>
              <a:t>Wins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959" y="1986008"/>
            <a:ext cx="5893356" cy="20859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65340" y="1498600"/>
            <a:ext cx="4233545" cy="232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385"/>
              </a:lnSpc>
              <a:spcBef>
                <a:spcPts val="100"/>
              </a:spcBef>
            </a:pPr>
            <a:r>
              <a:rPr dirty="0" sz="4600" spc="-20" b="1">
                <a:solidFill>
                  <a:srgbClr val="9A2D2F"/>
                </a:solidFill>
                <a:latin typeface="Arial"/>
                <a:cs typeface="Arial"/>
              </a:rPr>
              <a:t>+59%</a:t>
            </a:r>
            <a:endParaRPr sz="4600">
              <a:latin typeface="Arial"/>
              <a:cs typeface="Arial"/>
            </a:endParaRPr>
          </a:p>
          <a:p>
            <a:pPr marL="12700">
              <a:lnSpc>
                <a:spcPts val="1125"/>
              </a:lnSpc>
            </a:pP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Hybrid's</a:t>
            </a:r>
            <a:r>
              <a:rPr dirty="0" sz="1050" spc="-30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MAP@10</a:t>
            </a:r>
            <a:r>
              <a:rPr dirty="0" sz="1050" spc="-2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lift</a:t>
            </a:r>
            <a:r>
              <a:rPr dirty="0" sz="1050" spc="-25">
                <a:solidFill>
                  <a:srgbClr val="6B7585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B7585"/>
                </a:solidFill>
                <a:latin typeface="Arial MT"/>
                <a:cs typeface="Arial MT"/>
              </a:rPr>
              <a:t>over</a:t>
            </a:r>
            <a:r>
              <a:rPr dirty="0" sz="1050" spc="-25">
                <a:solidFill>
                  <a:srgbClr val="6B7585"/>
                </a:solidFill>
                <a:latin typeface="Arial MT"/>
                <a:cs typeface="Arial MT"/>
              </a:rPr>
              <a:t> BPR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050">
              <a:latin typeface="Arial MT"/>
              <a:cs typeface="Arial MT"/>
            </a:endParaRPr>
          </a:p>
          <a:p>
            <a:pPr marL="347345" indent="-144145">
              <a:lnSpc>
                <a:spcPct val="100000"/>
              </a:lnSpc>
              <a:buClr>
                <a:srgbClr val="9A2D2F"/>
              </a:buClr>
              <a:buChar char="•"/>
              <a:tabLst>
                <a:tab pos="347345" algn="l"/>
              </a:tabLst>
            </a:pP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BPR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Hybrid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optimize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i="1">
                <a:solidFill>
                  <a:srgbClr val="212D3B"/>
                </a:solidFill>
                <a:latin typeface="Arial"/>
                <a:cs typeface="Arial"/>
              </a:rPr>
              <a:t>ordering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,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not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star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ratings.</a:t>
            </a:r>
            <a:endParaRPr sz="1250">
              <a:latin typeface="Arial MT"/>
              <a:cs typeface="Arial MT"/>
            </a:endParaRPr>
          </a:p>
          <a:p>
            <a:pPr marL="203200" marR="657225" indent="144145">
              <a:lnSpc>
                <a:spcPct val="113300"/>
              </a:lnSpc>
              <a:spcBef>
                <a:spcPts val="600"/>
              </a:spcBef>
              <a:buClr>
                <a:srgbClr val="9A2D2F"/>
              </a:buClr>
              <a:buChar char="•"/>
              <a:tabLst>
                <a:tab pos="347345" algn="l"/>
              </a:tabLst>
            </a:pP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Both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clearly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beat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MostPopular</a:t>
            </a:r>
            <a:r>
              <a:rPr dirty="0" sz="1250" spc="-3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baseline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50">
                <a:solidFill>
                  <a:srgbClr val="212D3B"/>
                </a:solidFill>
                <a:latin typeface="Arial MT"/>
                <a:cs typeface="Arial MT"/>
              </a:rPr>
              <a:t>—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personalization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earns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its</a:t>
            </a:r>
            <a:r>
              <a:rPr dirty="0" sz="1250" spc="-4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keep.</a:t>
            </a:r>
            <a:endParaRPr sz="1250">
              <a:latin typeface="Arial MT"/>
              <a:cs typeface="Arial MT"/>
            </a:endParaRPr>
          </a:p>
          <a:p>
            <a:pPr marL="203200" marR="5080" indent="144145">
              <a:lnSpc>
                <a:spcPct val="113300"/>
              </a:lnSpc>
              <a:spcBef>
                <a:spcPts val="600"/>
              </a:spcBef>
              <a:buClr>
                <a:srgbClr val="9A2D2F"/>
              </a:buClr>
              <a:buChar char="•"/>
              <a:tabLst>
                <a:tab pos="347345" algn="l"/>
              </a:tabLst>
            </a:pP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Rating-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accuracy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models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rank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only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by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accident;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212D3B"/>
                </a:solidFill>
                <a:latin typeface="Arial MT"/>
                <a:cs typeface="Arial MT"/>
              </a:rPr>
              <a:t>loss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must</a:t>
            </a:r>
            <a:r>
              <a:rPr dirty="0" sz="12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match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2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D3B"/>
                </a:solidFill>
                <a:latin typeface="Arial MT"/>
                <a:cs typeface="Arial MT"/>
              </a:rPr>
              <a:t>goal.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17100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05</a:t>
            </a:r>
            <a:r>
              <a:rPr dirty="0" sz="1100" spc="28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90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THE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 SCOREBOARD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Every</a:t>
            </a:r>
            <a:r>
              <a:rPr dirty="0" spc="-20"/>
              <a:t> </a:t>
            </a:r>
            <a:r>
              <a:rPr dirty="0"/>
              <a:t>Model,</a:t>
            </a:r>
            <a:r>
              <a:rPr dirty="0" spc="-20"/>
              <a:t> </a:t>
            </a:r>
            <a:r>
              <a:rPr dirty="0"/>
              <a:t>Side</a:t>
            </a:r>
            <a:r>
              <a:rPr dirty="0" spc="-20"/>
              <a:t> </a:t>
            </a:r>
            <a:r>
              <a:rPr dirty="0"/>
              <a:t>by</a:t>
            </a:r>
            <a:r>
              <a:rPr dirty="0" spc="-20"/>
              <a:t> Side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3259" y="1623060"/>
          <a:ext cx="10901680" cy="2644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00150"/>
                <a:gridCol w="1200150"/>
                <a:gridCol w="1200150"/>
                <a:gridCol w="1200150"/>
                <a:gridCol w="1200150"/>
                <a:gridCol w="1200150"/>
                <a:gridCol w="1200150"/>
                <a:gridCol w="1200150"/>
              </a:tblGrid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RMSE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MAP@10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Prec@10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Recall@10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NDCG@10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HitRate@10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Coverage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21344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MostPopular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—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—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0.0083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0.0041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0.0224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0.0133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0.0393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0.0102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0.9841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0.7744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0.0039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0.0018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0.0098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0.0059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0.0170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0.0351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FunkSVD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0.9225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0.7153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0.0055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0.0034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0.0172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0.0317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0.0998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SVD++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0.9106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0.7033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0.0093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0.0052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0.0257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0.0156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0.0487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0.1718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Ensemble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0.9093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9A2D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0.7018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0.0095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0.0049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0.0242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0.0154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0.0457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0.1246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25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BPR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—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—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0.0131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0.0067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0.0355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0.0214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0.0637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0.0627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213449"/>
                          </a:solidFill>
                          <a:latin typeface="Arial"/>
                          <a:cs typeface="Arial"/>
                        </a:rPr>
                        <a:t>Hybrid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—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—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0.0208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9A2D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0.0113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0.0591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0.0349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0.1063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000" spc="-10">
                          <a:latin typeface="Arial MT"/>
                          <a:cs typeface="Arial MT"/>
                        </a:rPr>
                        <a:t>0.0790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lnB w="6350">
                      <a:solidFill>
                        <a:srgbClr val="D4DB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685800" y="4445000"/>
            <a:ext cx="10820400" cy="914400"/>
            <a:chOff x="685800" y="4445000"/>
            <a:chExt cx="10820400" cy="914400"/>
          </a:xfrm>
        </p:grpSpPr>
        <p:sp>
          <p:nvSpPr>
            <p:cNvPr id="7" name="object 7"/>
            <p:cNvSpPr/>
            <p:nvPr/>
          </p:nvSpPr>
          <p:spPr>
            <a:xfrm>
              <a:off x="685800" y="4445000"/>
              <a:ext cx="10820400" cy="914400"/>
            </a:xfrm>
            <a:custGeom>
              <a:avLst/>
              <a:gdLst/>
              <a:ahLst/>
              <a:cxnLst/>
              <a:rect l="l" t="t" r="r" b="b"/>
              <a:pathLst>
                <a:path w="10820400" h="914400">
                  <a:moveTo>
                    <a:pt x="10820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820400" y="914400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85800" y="44450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9A2D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36600" y="4507532"/>
            <a:ext cx="107696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The</a:t>
            </a:r>
            <a:r>
              <a:rPr dirty="0" sz="1100" spc="-15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headline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insight</a:t>
            </a:r>
            <a:r>
              <a:rPr dirty="0" sz="1100" spc="-15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—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accuracy</a:t>
            </a:r>
            <a:r>
              <a:rPr dirty="0" sz="1100" spc="-15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is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not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ranking</a:t>
            </a:r>
            <a:endParaRPr sz="1100">
              <a:latin typeface="Arial"/>
              <a:cs typeface="Arial"/>
            </a:endParaRPr>
          </a:p>
          <a:p>
            <a:pPr marL="101600" marR="224154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best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model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(Ensemble)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best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recommender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(Hybrid)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are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different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models.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serve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ensemble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for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prediction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hybrid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for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discovery.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Evaluation: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probe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set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held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out,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split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into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25%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blend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slice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(weights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only)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leakage-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free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75%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slice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all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reported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numbers;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relevance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=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true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3.5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or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higher.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18421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06</a:t>
            </a:r>
            <a:r>
              <a:rPr dirty="0" sz="1100" spc="29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9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RECOMMENDATIONS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Does</a:t>
            </a:r>
            <a:r>
              <a:rPr dirty="0" spc="-10"/>
              <a:t> </a:t>
            </a:r>
            <a:r>
              <a:rPr dirty="0"/>
              <a:t>It</a:t>
            </a:r>
            <a:r>
              <a:rPr dirty="0" spc="-5"/>
              <a:t> </a:t>
            </a:r>
            <a:r>
              <a:rPr dirty="0"/>
              <a:t>Actually</a:t>
            </a:r>
            <a:r>
              <a:rPr dirty="0" spc="-5"/>
              <a:t> </a:t>
            </a:r>
            <a:r>
              <a:rPr dirty="0" spc="-10"/>
              <a:t>Work?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3100" y="1587500"/>
            <a:ext cx="51339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D5B75"/>
                </a:solidFill>
                <a:latin typeface="Arial MT"/>
                <a:cs typeface="Arial MT"/>
              </a:rPr>
              <a:t>No genre labels are used — taste is inferred purely from </a:t>
            </a:r>
            <a:r>
              <a:rPr dirty="0" sz="1350" spc="-10">
                <a:solidFill>
                  <a:srgbClr val="3D5B75"/>
                </a:solidFill>
                <a:latin typeface="Arial MT"/>
                <a:cs typeface="Arial MT"/>
              </a:rPr>
              <a:t>behaviour.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3259" y="2385060"/>
          <a:ext cx="3535679" cy="204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400"/>
              </a:tblGrid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10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963054</a:t>
                      </a:r>
                      <a:r>
                        <a:rPr dirty="0" sz="10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10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dirty="0" sz="1000" spc="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action</a:t>
                      </a:r>
                      <a:r>
                        <a:rPr dirty="0" sz="1000" spc="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solidFill>
                      <a:srgbClr val="21344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Loved: Batman Begins </a:t>
                      </a:r>
                      <a:r>
                        <a:rPr dirty="0" sz="1000" spc="-2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(5)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Pirates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Caribbean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(4)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solidFill>
                      <a:srgbClr val="F6F7F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Indiana Jones: Last Crusade </a:t>
                      </a:r>
                      <a:r>
                        <a:rPr dirty="0" sz="1000" spc="-2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(4)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1000" spc="20">
                          <a:solidFill>
                            <a:srgbClr val="212D3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Lost: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Season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(like Batman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0.51)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solidFill>
                      <a:srgbClr val="F6F7F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1000" spc="20">
                          <a:solidFill>
                            <a:srgbClr val="212D3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Battlestar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Galactica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(0.50)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1000" spc="25">
                          <a:solidFill>
                            <a:srgbClr val="212D3B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LOTR: Return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of the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366259" y="2385060"/>
          <a:ext cx="3535679" cy="204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400"/>
              </a:tblGrid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'Miss</a:t>
                      </a:r>
                      <a:r>
                        <a:rPr dirty="0" sz="1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Congeniality' </a:t>
                      </a:r>
                      <a:r>
                        <a:rPr dirty="0" sz="1000">
                          <a:solidFill>
                            <a:srgbClr val="FFFFFF"/>
                          </a:solidFill>
                          <a:latin typeface="Symbol"/>
                          <a:cs typeface="Symbol"/>
                        </a:rPr>
                        <a:t></a:t>
                      </a:r>
                      <a:r>
                        <a:rPr dirty="0" sz="1000" spc="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also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liked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solidFill>
                      <a:srgbClr val="3D5B75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Two Weeks Notice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(0.83)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 Wedding Planner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(0.82)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solidFill>
                      <a:srgbClr val="F6F7F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-1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Princess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Diaries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(0.82)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Sweet Home Alabama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(0.81)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solidFill>
                      <a:srgbClr val="F6F7F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Legally Blonde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(0.79)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Runaway Bride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(0.77)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49259" y="2385060"/>
          <a:ext cx="3535679" cy="2044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400"/>
              </a:tblGrid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New user (cold-start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fallback)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T w="6350">
                      <a:solidFill>
                        <a:srgbClr val="D4DBE4"/>
                      </a:solidFill>
                      <a:prstDash val="solid"/>
                    </a:lnT>
                    <a:solidFill>
                      <a:srgbClr val="9A2D2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LOTR: The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Return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King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LOTR: The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Fellowship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000" spc="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solidFill>
                      <a:srgbClr val="F6F7F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 Shawshank </a:t>
                      </a:r>
                      <a:r>
                        <a:rPr dirty="0" sz="1000" spc="-1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Redemption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Star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Wars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V: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Empire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Strikes</a:t>
                      </a:r>
                      <a:r>
                        <a:rPr dirty="0" sz="1000" spc="-5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2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Back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solidFill>
                      <a:srgbClr val="F6F7F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 Simpsons: Season </a:t>
                      </a:r>
                      <a:r>
                        <a:rPr dirty="0" sz="1000" spc="-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00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The Sopranos: Season </a:t>
                      </a:r>
                      <a:r>
                        <a:rPr dirty="0" sz="1000" spc="-50">
                          <a:solidFill>
                            <a:srgbClr val="212D3B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6350">
                      <a:solidFill>
                        <a:srgbClr val="D4DBE4"/>
                      </a:solidFill>
                      <a:prstDash val="solid"/>
                    </a:lnL>
                    <a:lnR w="6350">
                      <a:solidFill>
                        <a:srgbClr val="D4DBE4"/>
                      </a:solidFill>
                      <a:prstDash val="solid"/>
                    </a:lnR>
                    <a:lnB w="6350">
                      <a:solidFill>
                        <a:srgbClr val="D4DBE4"/>
                      </a:solidFill>
                      <a:prstDash val="soli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685800" y="5334000"/>
            <a:ext cx="10820400" cy="914400"/>
            <a:chOff x="685800" y="5334000"/>
            <a:chExt cx="10820400" cy="914400"/>
          </a:xfrm>
        </p:grpSpPr>
        <p:sp>
          <p:nvSpPr>
            <p:cNvPr id="10" name="object 10"/>
            <p:cNvSpPr/>
            <p:nvPr/>
          </p:nvSpPr>
          <p:spPr>
            <a:xfrm>
              <a:off x="685800" y="5334000"/>
              <a:ext cx="10820400" cy="914400"/>
            </a:xfrm>
            <a:custGeom>
              <a:avLst/>
              <a:gdLst/>
              <a:ahLst/>
              <a:cxnLst/>
              <a:rect l="l" t="t" r="r" b="b"/>
              <a:pathLst>
                <a:path w="10820400" h="914400">
                  <a:moveTo>
                    <a:pt x="10820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820400" y="914400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800" y="53340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9A2D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36600" y="5396532"/>
            <a:ext cx="107696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Genre emerges from 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behaviour</a:t>
            </a:r>
            <a:endParaRPr sz="1100">
              <a:latin typeface="Arial"/>
              <a:cs typeface="Arial"/>
            </a:endParaRPr>
          </a:p>
          <a:p>
            <a:pPr marL="101600" marR="356870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model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groups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Batman,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Pirates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Indiana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Jones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into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coherent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action-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adventure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taste,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returns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clean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rom-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com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cluster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around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Miss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Congeniality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all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without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ever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seeing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genre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tag.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300" y="558800"/>
            <a:ext cx="13684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07</a:t>
            </a:r>
            <a:r>
              <a:rPr dirty="0" sz="1100" spc="28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·</a:t>
            </a:r>
            <a:r>
              <a:rPr dirty="0" sz="1100" spc="28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9A2D2F"/>
                </a:solidFill>
                <a:latin typeface="Arial"/>
                <a:cs typeface="Arial"/>
              </a:rPr>
              <a:t>KEY</a:t>
            </a:r>
            <a:r>
              <a:rPr dirty="0" sz="1100" spc="-5" b="1">
                <a:solidFill>
                  <a:srgbClr val="9A2D2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9A2D2F"/>
                </a:solidFill>
                <a:latin typeface="Arial"/>
                <a:cs typeface="Arial"/>
              </a:rPr>
              <a:t>INSIGHTS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35"/>
              <a:t> </a:t>
            </a:r>
            <a:r>
              <a:rPr dirty="0"/>
              <a:t>We</a:t>
            </a:r>
            <a:r>
              <a:rPr dirty="0" spc="-30"/>
              <a:t> </a:t>
            </a:r>
            <a:r>
              <a:rPr dirty="0" spc="-10"/>
              <a:t>Learned</a:t>
            </a:r>
          </a:p>
        </p:txBody>
      </p:sp>
      <p:sp>
        <p:nvSpPr>
          <p:cNvPr id="4" name="object 4"/>
          <p:cNvSpPr/>
          <p:nvPr/>
        </p:nvSpPr>
        <p:spPr>
          <a:xfrm>
            <a:off x="685800" y="13208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685800" y="1676400"/>
            <a:ext cx="5257800" cy="914400"/>
            <a:chOff x="685800" y="1676400"/>
            <a:chExt cx="5257800" cy="914400"/>
          </a:xfrm>
        </p:grpSpPr>
        <p:sp>
          <p:nvSpPr>
            <p:cNvPr id="6" name="object 6"/>
            <p:cNvSpPr/>
            <p:nvPr/>
          </p:nvSpPr>
          <p:spPr>
            <a:xfrm>
              <a:off x="685800" y="1676400"/>
              <a:ext cx="5257800" cy="914400"/>
            </a:xfrm>
            <a:custGeom>
              <a:avLst/>
              <a:gdLst/>
              <a:ahLst/>
              <a:cxnLst/>
              <a:rect l="l" t="t" r="r" b="b"/>
              <a:pathLst>
                <a:path w="5257800" h="914400">
                  <a:moveTo>
                    <a:pt x="5257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257800" y="914400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00" y="16764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9A2D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36600" y="1738932"/>
            <a:ext cx="52070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Sparsity dictates the 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architecture</a:t>
            </a:r>
            <a:endParaRPr sz="1100">
              <a:latin typeface="Arial"/>
              <a:cs typeface="Arial"/>
            </a:endParaRPr>
          </a:p>
          <a:p>
            <a:pPr marL="101600" marR="257175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At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1.18%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density,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latent-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factor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models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that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generalize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from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observed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1%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are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212D3B"/>
                </a:solidFill>
                <a:latin typeface="Arial MT"/>
                <a:cs typeface="Arial MT"/>
              </a:rPr>
              <a:t>a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necessity,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not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choice.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48400" y="1676400"/>
            <a:ext cx="5257800" cy="914400"/>
            <a:chOff x="6248400" y="1676400"/>
            <a:chExt cx="5257800" cy="914400"/>
          </a:xfrm>
        </p:grpSpPr>
        <p:sp>
          <p:nvSpPr>
            <p:cNvPr id="10" name="object 10"/>
            <p:cNvSpPr/>
            <p:nvPr/>
          </p:nvSpPr>
          <p:spPr>
            <a:xfrm>
              <a:off x="6248400" y="1676400"/>
              <a:ext cx="5257800" cy="914400"/>
            </a:xfrm>
            <a:custGeom>
              <a:avLst/>
              <a:gdLst/>
              <a:ahLst/>
              <a:cxnLst/>
              <a:rect l="l" t="t" r="r" b="b"/>
              <a:pathLst>
                <a:path w="5257800" h="914400">
                  <a:moveTo>
                    <a:pt x="5257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257800" y="914400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48400" y="16764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2134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299200" y="1738932"/>
            <a:ext cx="52070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Train</a:t>
            </a:r>
            <a:r>
              <a:rPr dirty="0" sz="1100" spc="-15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on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what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you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can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213449"/>
                </a:solidFill>
                <a:latin typeface="Arial"/>
                <a:cs typeface="Arial"/>
              </a:rPr>
              <a:t>see</a:t>
            </a:r>
            <a:endParaRPr sz="1100">
              <a:latin typeface="Arial"/>
              <a:cs typeface="Arial"/>
            </a:endParaRPr>
          </a:p>
          <a:p>
            <a:pPr marL="101600" marR="962025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Replacing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zero-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imputed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SVD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with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SGD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over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observed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was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the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highest-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leverage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change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in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study.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5800" y="3327400"/>
            <a:ext cx="5257800" cy="914400"/>
            <a:chOff x="685800" y="3327400"/>
            <a:chExt cx="5257800" cy="914400"/>
          </a:xfrm>
        </p:grpSpPr>
        <p:sp>
          <p:nvSpPr>
            <p:cNvPr id="14" name="object 14"/>
            <p:cNvSpPr/>
            <p:nvPr/>
          </p:nvSpPr>
          <p:spPr>
            <a:xfrm>
              <a:off x="685800" y="3327400"/>
              <a:ext cx="5257800" cy="914400"/>
            </a:xfrm>
            <a:custGeom>
              <a:avLst/>
              <a:gdLst/>
              <a:ahLst/>
              <a:cxnLst/>
              <a:rect l="l" t="t" r="r" b="b"/>
              <a:pathLst>
                <a:path w="5257800" h="914400">
                  <a:moveTo>
                    <a:pt x="5257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257800" y="914400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5800" y="33274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9A2D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36600" y="3389932"/>
            <a:ext cx="52070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To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rank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well,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optimize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ranking</a:t>
            </a:r>
            <a:endParaRPr sz="1100">
              <a:latin typeface="Arial"/>
              <a:cs typeface="Arial"/>
            </a:endParaRPr>
          </a:p>
          <a:p>
            <a:pPr marL="101600" marR="218440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Pairwise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hybrid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rankers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beat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every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rating-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optimized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model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MAP@10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the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loss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must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match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objective.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48400" y="3327400"/>
            <a:ext cx="5257800" cy="914400"/>
            <a:chOff x="6248400" y="3327400"/>
            <a:chExt cx="5257800" cy="914400"/>
          </a:xfrm>
        </p:grpSpPr>
        <p:sp>
          <p:nvSpPr>
            <p:cNvPr id="18" name="object 18"/>
            <p:cNvSpPr/>
            <p:nvPr/>
          </p:nvSpPr>
          <p:spPr>
            <a:xfrm>
              <a:off x="6248400" y="3327400"/>
              <a:ext cx="5257800" cy="914400"/>
            </a:xfrm>
            <a:custGeom>
              <a:avLst/>
              <a:gdLst/>
              <a:ahLst/>
              <a:cxnLst/>
              <a:rect l="l" t="t" r="r" b="b"/>
              <a:pathLst>
                <a:path w="5257800" h="914400">
                  <a:moveTo>
                    <a:pt x="5257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257800" y="914400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2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48400" y="33274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2134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299200" y="3389932"/>
            <a:ext cx="52070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Blend</a:t>
            </a:r>
            <a:r>
              <a:rPr dirty="0" sz="1100" spc="-2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diverse</a:t>
            </a:r>
            <a:r>
              <a:rPr dirty="0" sz="1100" spc="-15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models</a:t>
            </a:r>
            <a:endParaRPr sz="1100">
              <a:latin typeface="Arial"/>
              <a:cs typeface="Arial"/>
            </a:endParaRPr>
          </a:p>
          <a:p>
            <a:pPr marL="101600" marR="168275">
              <a:lnSpc>
                <a:spcPct val="115100"/>
              </a:lnSpc>
              <a:spcBef>
                <a:spcPts val="390"/>
              </a:spcBef>
            </a:pP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Leakage-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free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linear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stacking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beats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any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single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model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core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lesson</a:t>
            </a:r>
            <a:r>
              <a:rPr dirty="0" sz="1050" spc="-1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the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Prize-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winning</a:t>
            </a:r>
            <a:r>
              <a:rPr dirty="0" sz="1050" spc="-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entry.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5800" y="4978400"/>
            <a:ext cx="10820400" cy="914400"/>
            <a:chOff x="685800" y="4978400"/>
            <a:chExt cx="10820400" cy="914400"/>
          </a:xfrm>
        </p:grpSpPr>
        <p:sp>
          <p:nvSpPr>
            <p:cNvPr id="22" name="object 22"/>
            <p:cNvSpPr/>
            <p:nvPr/>
          </p:nvSpPr>
          <p:spPr>
            <a:xfrm>
              <a:off x="685800" y="4978400"/>
              <a:ext cx="10820400" cy="914400"/>
            </a:xfrm>
            <a:custGeom>
              <a:avLst/>
              <a:gdLst/>
              <a:ahLst/>
              <a:cxnLst/>
              <a:rect l="l" t="t" r="r" b="b"/>
              <a:pathLst>
                <a:path w="10820400" h="914400">
                  <a:moveTo>
                    <a:pt x="10820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820400" y="914400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E9ED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5800" y="4978400"/>
              <a:ext cx="50800" cy="914400"/>
            </a:xfrm>
            <a:custGeom>
              <a:avLst/>
              <a:gdLst/>
              <a:ahLst/>
              <a:cxnLst/>
              <a:rect l="l" t="t" r="r" b="b"/>
              <a:pathLst>
                <a:path w="50800" h="914400">
                  <a:moveTo>
                    <a:pt x="50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0800" y="9144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9A2D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36600" y="5040932"/>
            <a:ext cx="10769600" cy="68834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705"/>
              </a:spcBef>
            </a:pP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The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13449"/>
                </a:solidFill>
                <a:latin typeface="Arial"/>
                <a:cs typeface="Arial"/>
              </a:rPr>
              <a:t>bottom</a:t>
            </a:r>
            <a:r>
              <a:rPr dirty="0" sz="1100" spc="-10" b="1">
                <a:solidFill>
                  <a:srgbClr val="213449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13449"/>
                </a:solidFill>
                <a:latin typeface="Arial"/>
                <a:cs typeface="Arial"/>
              </a:rPr>
              <a:t>line</a:t>
            </a:r>
            <a:endParaRPr sz="1100">
              <a:latin typeface="Arial"/>
              <a:cs typeface="Arial"/>
            </a:endParaRPr>
          </a:p>
          <a:p>
            <a:pPr marL="101600" marR="280035">
              <a:lnSpc>
                <a:spcPct val="115100"/>
              </a:lnSpc>
              <a:spcBef>
                <a:spcPts val="390"/>
              </a:spcBef>
            </a:pP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full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100-million-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rating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dataset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surpassed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Netflix's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own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Cinematch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accuracy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decisively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beat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popularity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baseline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ranking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—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and,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just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as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importantly,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we</a:t>
            </a:r>
            <a:r>
              <a:rPr dirty="0" sz="1050" spc="-2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can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explain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why.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One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reproducible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notebook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regenerates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every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figure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and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metric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from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a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single</a:t>
            </a:r>
            <a:r>
              <a:rPr dirty="0" sz="1050" spc="-30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12D3B"/>
                </a:solidFill>
                <a:latin typeface="Arial MT"/>
                <a:cs typeface="Arial MT"/>
              </a:rPr>
              <a:t>scale</a:t>
            </a:r>
            <a:r>
              <a:rPr dirty="0" sz="1050" spc="-25">
                <a:solidFill>
                  <a:srgbClr val="212D3B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212D3B"/>
                </a:solidFill>
                <a:latin typeface="Arial MT"/>
                <a:cs typeface="Arial MT"/>
              </a:rPr>
              <a:t>switch.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5800" y="6375400"/>
            <a:ext cx="10820400" cy="0"/>
          </a:xfrm>
          <a:custGeom>
            <a:avLst/>
            <a:gdLst/>
            <a:ahLst/>
            <a:cxnLst/>
            <a:rect l="l" t="t" r="r" b="b"/>
            <a:pathLst>
              <a:path w="10820400" h="0">
                <a:moveTo>
                  <a:pt x="0" y="0"/>
                </a:moveTo>
                <a:lnTo>
                  <a:pt x="10820400" y="0"/>
                </a:lnTo>
              </a:path>
            </a:pathLst>
          </a:custGeom>
          <a:ln w="12700">
            <a:solidFill>
              <a:srgbClr val="D4DBE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 /</a:t>
            </a:r>
            <a:r>
              <a:rPr dirty="0" spc="5"/>
              <a:t> </a:t>
            </a:r>
            <a:r>
              <a:rPr dirty="0" spc="-50"/>
              <a:t>8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Netflix</a:t>
            </a:r>
            <a:r>
              <a:rPr dirty="0" spc="-5"/>
              <a:t> </a:t>
            </a:r>
            <a:r>
              <a:rPr dirty="0"/>
              <a:t>Prize</a:t>
            </a:r>
            <a:r>
              <a:rPr dirty="0" spc="229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/>
              <a:t>Personalized</a:t>
            </a:r>
            <a:r>
              <a:rPr dirty="0" spc="-5"/>
              <a:t> </a:t>
            </a:r>
            <a:r>
              <a:rPr dirty="0" spc="-10"/>
              <a:t>Recommendation</a:t>
            </a:r>
            <a:r>
              <a:rPr dirty="0"/>
              <a:t> </a:t>
            </a:r>
            <a:r>
              <a:rPr dirty="0" spc="-10"/>
              <a:t>Systems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anonymous</dc:creator>
  <dc:subject>unspecified</dc:subject>
  <dc:title>untitled</dc:title>
  <dcterms:created xsi:type="dcterms:W3CDTF">2026-06-12T08:32:29Z</dcterms:created>
  <dcterms:modified xsi:type="dcterms:W3CDTF">2026-06-12T08:32:29Z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2026-06-12T00:00:00Z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2026-06-12T00:00:00Z</vt:filetime>
  </property>
  <property fmtid="{D5CDD505-2E9C-101B-9397-08002B2CF9AE}" pid="6" name="Producer">
    <vt:lpwstr>ReportLab PDF Library - (opensource)</vt:lpwstr>
  </property>
</Properties>
</file>